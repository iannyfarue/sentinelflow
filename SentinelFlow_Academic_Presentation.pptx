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FD6D65-251A-4E37-9695-6E5381CF38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1231B11-DEEF-4A44-9320-A988B733602B}">
      <dgm:prSet/>
      <dgm:spPr/>
      <dgm:t>
        <a:bodyPr/>
        <a:lstStyle/>
        <a:p>
          <a:r>
            <a:rPr lang="en-US"/>
            <a:t>SentinelFlow demonstrates a production-oriented agent architecture.</a:t>
          </a:r>
        </a:p>
      </dgm:t>
    </dgm:pt>
    <dgm:pt modelId="{FD34871F-A9C2-44F1-BB6A-225EA334602E}" type="parTrans" cxnId="{A3439365-E80A-49D4-B13A-08E6E3CA8C83}">
      <dgm:prSet/>
      <dgm:spPr/>
      <dgm:t>
        <a:bodyPr/>
        <a:lstStyle/>
        <a:p>
          <a:endParaRPr lang="en-US"/>
        </a:p>
      </dgm:t>
    </dgm:pt>
    <dgm:pt modelId="{42238DB6-D93A-40A5-BEAB-9D5FD0876B89}" type="sibTrans" cxnId="{A3439365-E80A-49D4-B13A-08E6E3CA8C83}">
      <dgm:prSet/>
      <dgm:spPr/>
      <dgm:t>
        <a:bodyPr/>
        <a:lstStyle/>
        <a:p>
          <a:endParaRPr lang="en-US"/>
        </a:p>
      </dgm:t>
    </dgm:pt>
    <dgm:pt modelId="{8E0FDC7E-E713-4C26-BDAD-1D450F04DAFD}">
      <dgm:prSet/>
      <dgm:spPr/>
      <dgm:t>
        <a:bodyPr/>
        <a:lstStyle/>
        <a:p>
          <a:r>
            <a:rPr lang="en-US"/>
            <a:t>Combines safety, observability, and evaluation.</a:t>
          </a:r>
        </a:p>
      </dgm:t>
    </dgm:pt>
    <dgm:pt modelId="{15B3DF22-CD03-437A-8976-F864CB175BB9}" type="parTrans" cxnId="{8A2C61A3-5C4C-4EC5-B156-EED9C123C90F}">
      <dgm:prSet/>
      <dgm:spPr/>
      <dgm:t>
        <a:bodyPr/>
        <a:lstStyle/>
        <a:p>
          <a:endParaRPr lang="en-US"/>
        </a:p>
      </dgm:t>
    </dgm:pt>
    <dgm:pt modelId="{A3A78E21-EE83-46C4-9445-AFDE08549819}" type="sibTrans" cxnId="{8A2C61A3-5C4C-4EC5-B156-EED9C123C90F}">
      <dgm:prSet/>
      <dgm:spPr/>
      <dgm:t>
        <a:bodyPr/>
        <a:lstStyle/>
        <a:p>
          <a:endParaRPr lang="en-US"/>
        </a:p>
      </dgm:t>
    </dgm:pt>
    <dgm:pt modelId="{336330D0-2934-498E-A8D8-88CE97DE63CD}">
      <dgm:prSet/>
      <dgm:spPr/>
      <dgm:t>
        <a:bodyPr/>
        <a:lstStyle/>
        <a:p>
          <a:r>
            <a:rPr lang="en-US"/>
            <a:t>Provides a foundation for real-world AI agents.</a:t>
          </a:r>
        </a:p>
      </dgm:t>
    </dgm:pt>
    <dgm:pt modelId="{F66B3CE4-8CAC-408B-859C-527CD08DBAF9}" type="parTrans" cxnId="{B6C703C6-9844-42D7-A9E0-8CCB3AE84FD9}">
      <dgm:prSet/>
      <dgm:spPr/>
      <dgm:t>
        <a:bodyPr/>
        <a:lstStyle/>
        <a:p>
          <a:endParaRPr lang="en-US"/>
        </a:p>
      </dgm:t>
    </dgm:pt>
    <dgm:pt modelId="{BC954F03-5BCE-44F2-85B0-BD54493285AF}" type="sibTrans" cxnId="{B6C703C6-9844-42D7-A9E0-8CCB3AE84FD9}">
      <dgm:prSet/>
      <dgm:spPr/>
      <dgm:t>
        <a:bodyPr/>
        <a:lstStyle/>
        <a:p>
          <a:endParaRPr lang="en-US"/>
        </a:p>
      </dgm:t>
    </dgm:pt>
    <dgm:pt modelId="{E7C3DFA9-3D56-45C7-8C4A-EDFD02247F88}" type="pres">
      <dgm:prSet presAssocID="{1FFD6D65-251A-4E37-9695-6E5381CF38C1}" presName="root" presStyleCnt="0">
        <dgm:presLayoutVars>
          <dgm:dir/>
          <dgm:resizeHandles val="exact"/>
        </dgm:presLayoutVars>
      </dgm:prSet>
      <dgm:spPr/>
    </dgm:pt>
    <dgm:pt modelId="{25CFA840-C247-4512-AAF1-B4DC42C59623}" type="pres">
      <dgm:prSet presAssocID="{E1231B11-DEEF-4A44-9320-A988B733602B}" presName="compNode" presStyleCnt="0"/>
      <dgm:spPr/>
    </dgm:pt>
    <dgm:pt modelId="{90943281-B8BC-41B9-B01C-8344FD46EB09}" type="pres">
      <dgm:prSet presAssocID="{E1231B11-DEEF-4A44-9320-A988B733602B}" presName="bgRect" presStyleLbl="bgShp" presStyleIdx="0" presStyleCnt="3"/>
      <dgm:spPr/>
    </dgm:pt>
    <dgm:pt modelId="{85046078-658E-470A-AE13-1317B5F6277F}" type="pres">
      <dgm:prSet presAssocID="{E1231B11-DEEF-4A44-9320-A988B73360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27FCAC4-1812-4105-9C5F-6F81F9FF1CE5}" type="pres">
      <dgm:prSet presAssocID="{E1231B11-DEEF-4A44-9320-A988B733602B}" presName="spaceRect" presStyleCnt="0"/>
      <dgm:spPr/>
    </dgm:pt>
    <dgm:pt modelId="{CAE0687F-FD90-43A0-8A62-77D28DFFA6CE}" type="pres">
      <dgm:prSet presAssocID="{E1231B11-DEEF-4A44-9320-A988B733602B}" presName="parTx" presStyleLbl="revTx" presStyleIdx="0" presStyleCnt="3">
        <dgm:presLayoutVars>
          <dgm:chMax val="0"/>
          <dgm:chPref val="0"/>
        </dgm:presLayoutVars>
      </dgm:prSet>
      <dgm:spPr/>
    </dgm:pt>
    <dgm:pt modelId="{3D847FDF-A24A-4157-BCF7-2C9B1C999B5A}" type="pres">
      <dgm:prSet presAssocID="{42238DB6-D93A-40A5-BEAB-9D5FD0876B89}" presName="sibTrans" presStyleCnt="0"/>
      <dgm:spPr/>
    </dgm:pt>
    <dgm:pt modelId="{1BDAE853-6754-477B-A940-ABC71E49C7AF}" type="pres">
      <dgm:prSet presAssocID="{8E0FDC7E-E713-4C26-BDAD-1D450F04DAFD}" presName="compNode" presStyleCnt="0"/>
      <dgm:spPr/>
    </dgm:pt>
    <dgm:pt modelId="{FB6E2057-A004-40B2-90BA-1C3A95EAD923}" type="pres">
      <dgm:prSet presAssocID="{8E0FDC7E-E713-4C26-BDAD-1D450F04DAFD}" presName="bgRect" presStyleLbl="bgShp" presStyleIdx="1" presStyleCnt="3"/>
      <dgm:spPr/>
    </dgm:pt>
    <dgm:pt modelId="{2A00D94D-F1E8-4D1C-A968-F325B8F0156D}" type="pres">
      <dgm:prSet presAssocID="{8E0FDC7E-E713-4C26-BDAD-1D450F04DA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8DB411D5-8E60-4E5B-A495-33C37F0D8E24}" type="pres">
      <dgm:prSet presAssocID="{8E0FDC7E-E713-4C26-BDAD-1D450F04DAFD}" presName="spaceRect" presStyleCnt="0"/>
      <dgm:spPr/>
    </dgm:pt>
    <dgm:pt modelId="{060F2B1F-8AE9-4116-9B28-2F4513591823}" type="pres">
      <dgm:prSet presAssocID="{8E0FDC7E-E713-4C26-BDAD-1D450F04DAFD}" presName="parTx" presStyleLbl="revTx" presStyleIdx="1" presStyleCnt="3">
        <dgm:presLayoutVars>
          <dgm:chMax val="0"/>
          <dgm:chPref val="0"/>
        </dgm:presLayoutVars>
      </dgm:prSet>
      <dgm:spPr/>
    </dgm:pt>
    <dgm:pt modelId="{E683F667-7325-4602-8F65-CEE1FDE364D0}" type="pres">
      <dgm:prSet presAssocID="{A3A78E21-EE83-46C4-9445-AFDE08549819}" presName="sibTrans" presStyleCnt="0"/>
      <dgm:spPr/>
    </dgm:pt>
    <dgm:pt modelId="{EF960E9F-9E2E-472D-A9FF-FE938B13F17E}" type="pres">
      <dgm:prSet presAssocID="{336330D0-2934-498E-A8D8-88CE97DE63CD}" presName="compNode" presStyleCnt="0"/>
      <dgm:spPr/>
    </dgm:pt>
    <dgm:pt modelId="{D1EFEFC4-395B-4F79-A5DD-CC1AACA532D3}" type="pres">
      <dgm:prSet presAssocID="{336330D0-2934-498E-A8D8-88CE97DE63CD}" presName="bgRect" presStyleLbl="bgShp" presStyleIdx="2" presStyleCnt="3"/>
      <dgm:spPr/>
    </dgm:pt>
    <dgm:pt modelId="{46005C30-6D41-4CF1-BE4E-26F47706BA33}" type="pres">
      <dgm:prSet presAssocID="{336330D0-2934-498E-A8D8-88CE97DE63C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E69DF6E-F853-4465-8721-6126A1B85A46}" type="pres">
      <dgm:prSet presAssocID="{336330D0-2934-498E-A8D8-88CE97DE63CD}" presName="spaceRect" presStyleCnt="0"/>
      <dgm:spPr/>
    </dgm:pt>
    <dgm:pt modelId="{43845516-A714-447F-A904-6D15C05719B7}" type="pres">
      <dgm:prSet presAssocID="{336330D0-2934-498E-A8D8-88CE97DE63C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5D38221-AFC6-480B-B43F-66AA5507926B}" type="presOf" srcId="{E1231B11-DEEF-4A44-9320-A988B733602B}" destId="{CAE0687F-FD90-43A0-8A62-77D28DFFA6CE}" srcOrd="0" destOrd="0" presId="urn:microsoft.com/office/officeart/2018/2/layout/IconVerticalSolidList"/>
    <dgm:cxn modelId="{A3439365-E80A-49D4-B13A-08E6E3CA8C83}" srcId="{1FFD6D65-251A-4E37-9695-6E5381CF38C1}" destId="{E1231B11-DEEF-4A44-9320-A988B733602B}" srcOrd="0" destOrd="0" parTransId="{FD34871F-A9C2-44F1-BB6A-225EA334602E}" sibTransId="{42238DB6-D93A-40A5-BEAB-9D5FD0876B89}"/>
    <dgm:cxn modelId="{01E5099C-FC26-4582-9359-2C408D316B53}" type="presOf" srcId="{1FFD6D65-251A-4E37-9695-6E5381CF38C1}" destId="{E7C3DFA9-3D56-45C7-8C4A-EDFD02247F88}" srcOrd="0" destOrd="0" presId="urn:microsoft.com/office/officeart/2018/2/layout/IconVerticalSolidList"/>
    <dgm:cxn modelId="{8A2C61A3-5C4C-4EC5-B156-EED9C123C90F}" srcId="{1FFD6D65-251A-4E37-9695-6E5381CF38C1}" destId="{8E0FDC7E-E713-4C26-BDAD-1D450F04DAFD}" srcOrd="1" destOrd="0" parTransId="{15B3DF22-CD03-437A-8976-F864CB175BB9}" sibTransId="{A3A78E21-EE83-46C4-9445-AFDE08549819}"/>
    <dgm:cxn modelId="{80A0F4C1-B708-489F-AEE0-D58CB78F116E}" type="presOf" srcId="{336330D0-2934-498E-A8D8-88CE97DE63CD}" destId="{43845516-A714-447F-A904-6D15C05719B7}" srcOrd="0" destOrd="0" presId="urn:microsoft.com/office/officeart/2018/2/layout/IconVerticalSolidList"/>
    <dgm:cxn modelId="{B6C703C6-9844-42D7-A9E0-8CCB3AE84FD9}" srcId="{1FFD6D65-251A-4E37-9695-6E5381CF38C1}" destId="{336330D0-2934-498E-A8D8-88CE97DE63CD}" srcOrd="2" destOrd="0" parTransId="{F66B3CE4-8CAC-408B-859C-527CD08DBAF9}" sibTransId="{BC954F03-5BCE-44F2-85B0-BD54493285AF}"/>
    <dgm:cxn modelId="{A0C562CD-A8C2-4D85-AA0B-E77CCEDD5E79}" type="presOf" srcId="{8E0FDC7E-E713-4C26-BDAD-1D450F04DAFD}" destId="{060F2B1F-8AE9-4116-9B28-2F4513591823}" srcOrd="0" destOrd="0" presId="urn:microsoft.com/office/officeart/2018/2/layout/IconVerticalSolidList"/>
    <dgm:cxn modelId="{1FBCADAA-D2CA-41AD-A6D3-93C2F89FF8F3}" type="presParOf" srcId="{E7C3DFA9-3D56-45C7-8C4A-EDFD02247F88}" destId="{25CFA840-C247-4512-AAF1-B4DC42C59623}" srcOrd="0" destOrd="0" presId="urn:microsoft.com/office/officeart/2018/2/layout/IconVerticalSolidList"/>
    <dgm:cxn modelId="{4DA41CF7-CD15-4E2F-932F-63CC7D1DBD7A}" type="presParOf" srcId="{25CFA840-C247-4512-AAF1-B4DC42C59623}" destId="{90943281-B8BC-41B9-B01C-8344FD46EB09}" srcOrd="0" destOrd="0" presId="urn:microsoft.com/office/officeart/2018/2/layout/IconVerticalSolidList"/>
    <dgm:cxn modelId="{484F6493-1791-442A-B42C-E4895D03AD67}" type="presParOf" srcId="{25CFA840-C247-4512-AAF1-B4DC42C59623}" destId="{85046078-658E-470A-AE13-1317B5F6277F}" srcOrd="1" destOrd="0" presId="urn:microsoft.com/office/officeart/2018/2/layout/IconVerticalSolidList"/>
    <dgm:cxn modelId="{B1A9E8EE-39A8-4345-9936-668EA2339CA5}" type="presParOf" srcId="{25CFA840-C247-4512-AAF1-B4DC42C59623}" destId="{627FCAC4-1812-4105-9C5F-6F81F9FF1CE5}" srcOrd="2" destOrd="0" presId="urn:microsoft.com/office/officeart/2018/2/layout/IconVerticalSolidList"/>
    <dgm:cxn modelId="{87E7CE84-7366-49D9-BD1F-D52FC02DB126}" type="presParOf" srcId="{25CFA840-C247-4512-AAF1-B4DC42C59623}" destId="{CAE0687F-FD90-43A0-8A62-77D28DFFA6CE}" srcOrd="3" destOrd="0" presId="urn:microsoft.com/office/officeart/2018/2/layout/IconVerticalSolidList"/>
    <dgm:cxn modelId="{CF9352E3-6B0B-43E7-8A6E-B8AF53B94EA9}" type="presParOf" srcId="{E7C3DFA9-3D56-45C7-8C4A-EDFD02247F88}" destId="{3D847FDF-A24A-4157-BCF7-2C9B1C999B5A}" srcOrd="1" destOrd="0" presId="urn:microsoft.com/office/officeart/2018/2/layout/IconVerticalSolidList"/>
    <dgm:cxn modelId="{C5B6DE30-3534-4B69-A747-FD4037CD8DA4}" type="presParOf" srcId="{E7C3DFA9-3D56-45C7-8C4A-EDFD02247F88}" destId="{1BDAE853-6754-477B-A940-ABC71E49C7AF}" srcOrd="2" destOrd="0" presId="urn:microsoft.com/office/officeart/2018/2/layout/IconVerticalSolidList"/>
    <dgm:cxn modelId="{AA498160-DCDC-4CDE-A490-84A5A81A8C2F}" type="presParOf" srcId="{1BDAE853-6754-477B-A940-ABC71E49C7AF}" destId="{FB6E2057-A004-40B2-90BA-1C3A95EAD923}" srcOrd="0" destOrd="0" presId="urn:microsoft.com/office/officeart/2018/2/layout/IconVerticalSolidList"/>
    <dgm:cxn modelId="{F21D2DB2-564F-46C7-A1E2-886C96A93C5E}" type="presParOf" srcId="{1BDAE853-6754-477B-A940-ABC71E49C7AF}" destId="{2A00D94D-F1E8-4D1C-A968-F325B8F0156D}" srcOrd="1" destOrd="0" presId="urn:microsoft.com/office/officeart/2018/2/layout/IconVerticalSolidList"/>
    <dgm:cxn modelId="{CF4C0B2B-F999-4D4A-A943-323F4B1E5EBA}" type="presParOf" srcId="{1BDAE853-6754-477B-A940-ABC71E49C7AF}" destId="{8DB411D5-8E60-4E5B-A495-33C37F0D8E24}" srcOrd="2" destOrd="0" presId="urn:microsoft.com/office/officeart/2018/2/layout/IconVerticalSolidList"/>
    <dgm:cxn modelId="{9EECEA97-132A-458B-86D1-9B0BF8D3C04D}" type="presParOf" srcId="{1BDAE853-6754-477B-A940-ABC71E49C7AF}" destId="{060F2B1F-8AE9-4116-9B28-2F4513591823}" srcOrd="3" destOrd="0" presId="urn:microsoft.com/office/officeart/2018/2/layout/IconVerticalSolidList"/>
    <dgm:cxn modelId="{B0466D2C-3630-42C5-89AC-A55C5C8F64D5}" type="presParOf" srcId="{E7C3DFA9-3D56-45C7-8C4A-EDFD02247F88}" destId="{E683F667-7325-4602-8F65-CEE1FDE364D0}" srcOrd="3" destOrd="0" presId="urn:microsoft.com/office/officeart/2018/2/layout/IconVerticalSolidList"/>
    <dgm:cxn modelId="{49ACAA3A-C996-44A3-B25E-E9BC585032FD}" type="presParOf" srcId="{E7C3DFA9-3D56-45C7-8C4A-EDFD02247F88}" destId="{EF960E9F-9E2E-472D-A9FF-FE938B13F17E}" srcOrd="4" destOrd="0" presId="urn:microsoft.com/office/officeart/2018/2/layout/IconVerticalSolidList"/>
    <dgm:cxn modelId="{9936B2DB-A77E-4731-AC8E-43CC919B345D}" type="presParOf" srcId="{EF960E9F-9E2E-472D-A9FF-FE938B13F17E}" destId="{D1EFEFC4-395B-4F79-A5DD-CC1AACA532D3}" srcOrd="0" destOrd="0" presId="urn:microsoft.com/office/officeart/2018/2/layout/IconVerticalSolidList"/>
    <dgm:cxn modelId="{2666B70D-CBF1-4C6C-ADFB-335840BF9FD5}" type="presParOf" srcId="{EF960E9F-9E2E-472D-A9FF-FE938B13F17E}" destId="{46005C30-6D41-4CF1-BE4E-26F47706BA33}" srcOrd="1" destOrd="0" presId="urn:microsoft.com/office/officeart/2018/2/layout/IconVerticalSolidList"/>
    <dgm:cxn modelId="{FD9CDCD9-B403-4227-8660-DEDDA082FF42}" type="presParOf" srcId="{EF960E9F-9E2E-472D-A9FF-FE938B13F17E}" destId="{2E69DF6E-F853-4465-8721-6126A1B85A46}" srcOrd="2" destOrd="0" presId="urn:microsoft.com/office/officeart/2018/2/layout/IconVerticalSolidList"/>
    <dgm:cxn modelId="{F9F54CF5-9EA7-4492-AF45-A23C077BFAC7}" type="presParOf" srcId="{EF960E9F-9E2E-472D-A9FF-FE938B13F17E}" destId="{43845516-A714-447F-A904-6D15C05719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43281-B8BC-41B9-B01C-8344FD46EB09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46078-658E-470A-AE13-1317B5F6277F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0687F-FD90-43A0-8A62-77D28DFFA6CE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SentinelFlow demonstrates a production-oriented agent architecture.</a:t>
          </a:r>
        </a:p>
      </dsp:txBody>
      <dsp:txXfrm>
        <a:off x="1939533" y="717"/>
        <a:ext cx="2786667" cy="1679249"/>
      </dsp:txXfrm>
    </dsp:sp>
    <dsp:sp modelId="{FB6E2057-A004-40B2-90BA-1C3A95EAD923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0D94D-F1E8-4D1C-A968-F325B8F0156D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F2B1F-8AE9-4116-9B28-2F4513591823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Combines safety, observability, and evaluation.</a:t>
          </a:r>
        </a:p>
      </dsp:txBody>
      <dsp:txXfrm>
        <a:off x="1939533" y="2099779"/>
        <a:ext cx="2786667" cy="1679249"/>
      </dsp:txXfrm>
    </dsp:sp>
    <dsp:sp modelId="{D1EFEFC4-395B-4F79-A5DD-CC1AACA532D3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05C30-6D41-4CF1-BE4E-26F47706BA33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45516-A714-447F-A904-6D15C05719B7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Provides a foundation for real-world AI agents.</a:t>
          </a:r>
        </a:p>
      </dsp:txBody>
      <dsp:txXfrm>
        <a:off x="1939533" y="4198841"/>
        <a:ext cx="27866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396390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4244" y="-34538"/>
            <a:ext cx="4991553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66395" y="-23905"/>
            <a:ext cx="5028938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0164" y="-23905"/>
            <a:ext cx="5028938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1806" y="895483"/>
            <a:ext cx="4339674" cy="3011190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chemeClr val="bg1"/>
                </a:solidFill>
              </a:rPr>
              <a:t>SentinelFlow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9702" y="4142096"/>
            <a:ext cx="4003883" cy="1055142"/>
          </a:xfrm>
        </p:spPr>
        <p:txBody>
          <a:bodyPr>
            <a:normAutofit fontScale="92500" lnSpcReduction="20000"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A Safe, Observable AI Agent Architecture</a:t>
            </a:r>
          </a:p>
          <a:p>
            <a:r>
              <a:rPr lang="en-US" sz="1700" dirty="0">
                <a:solidFill>
                  <a:schemeClr val="bg1"/>
                </a:solidFill>
              </a:rPr>
              <a:t>Ian Madhara</a:t>
            </a:r>
          </a:p>
          <a:p>
            <a:r>
              <a:rPr lang="en-US" sz="1700" dirty="0">
                <a:solidFill>
                  <a:schemeClr val="bg1"/>
                </a:solidFill>
              </a:rPr>
              <a:t>Tinashe Kachepa</a:t>
            </a:r>
          </a:p>
          <a:p>
            <a:r>
              <a:rPr lang="en-US" sz="1700" dirty="0" err="1">
                <a:solidFill>
                  <a:schemeClr val="bg1"/>
                </a:solidFill>
              </a:rPr>
              <a:t>Simbaremuteuro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Chin’ombe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1037" y="188494"/>
            <a:ext cx="786278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1037" y="188494"/>
            <a:ext cx="786278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87321" y="3578317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393" y="4910353"/>
            <a:ext cx="351068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393" y="4910353"/>
            <a:ext cx="351068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66850" y="4200769"/>
            <a:ext cx="2077150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66850" y="4200769"/>
            <a:ext cx="2077150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Abstract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190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Large Language Models (LLMs) enable natural language interfaces but pose safety risks when executing actions.</a:t>
            </a:r>
          </a:p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SentinelFlow presents a system architecture that separates reasoning from execution.</a:t>
            </a:r>
          </a:p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We demonstrate deterministic, auditable agent behavior with full observability.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Motivation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Direct LLM tool execution risks hallucinations and silent failures.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Production systems require safety, traceability, and reproducibility.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Most agent demos lack evaluation and observability.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Research Objectives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Design a safe agent execution architecture.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Enforce policy and confirmation for risky actions.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Provide trace-level observability and auditability.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Evaluate reliability using automated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System Overview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LLM generates structured action plans.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Orchestrator validates and executes plans deterministically.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All actions are logged and auditable.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security system&#10;&#10;AI-generated content may be incorrect.">
            <a:extLst>
              <a:ext uri="{FF2B5EF4-FFF2-40B4-BE49-F238E27FC236}">
                <a16:creationId xmlns:a16="http://schemas.microsoft.com/office/drawing/2014/main" id="{46EFCC89-B502-50EA-76A3-B2995E9E3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51" y="83820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Planner Design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Two modes: heuristic planner and LLM planner.</a:t>
            </a:r>
          </a:p>
          <a:p>
            <a:r>
              <a:rPr lang="en-US">
                <a:solidFill>
                  <a:schemeClr val="bg1"/>
                </a:solidFill>
              </a:rPr>
              <a:t>Outputs structured JSON plans.</a:t>
            </a:r>
          </a:p>
          <a:p>
            <a:r>
              <a:rPr lang="en-US">
                <a:solidFill>
                  <a:schemeClr val="bg1"/>
                </a:solidFill>
              </a:rPr>
              <a:t>Planner never executes side effects.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Orchestrator Responsibilities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Schema validation (Pydantic).</a:t>
            </a:r>
          </a:p>
          <a:p>
            <a:r>
              <a:rPr lang="en-US">
                <a:solidFill>
                  <a:schemeClr val="bg1"/>
                </a:solidFill>
              </a:rPr>
              <a:t>Argument repair and enforcement.</a:t>
            </a:r>
          </a:p>
          <a:p>
            <a:r>
              <a:rPr lang="en-US">
                <a:solidFill>
                  <a:schemeClr val="bg1"/>
                </a:solidFill>
              </a:rPr>
              <a:t>Confirmation gating for high-risk actions.</a:t>
            </a:r>
          </a:p>
          <a:p>
            <a:r>
              <a:rPr lang="en-US">
                <a:solidFill>
                  <a:schemeClr val="bg1"/>
                </a:solidFill>
              </a:rPr>
              <a:t>Tool execution and error handling.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Safety Mechanisms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Explicit confirmation tokens for purchases.</a:t>
            </a:r>
          </a:p>
          <a:p>
            <a:r>
              <a:rPr lang="en-US">
                <a:solidFill>
                  <a:schemeClr val="bg1"/>
                </a:solidFill>
              </a:rPr>
              <a:t>No implicit or silent execution.</a:t>
            </a:r>
          </a:p>
          <a:p>
            <a:r>
              <a:rPr lang="en-US">
                <a:solidFill>
                  <a:schemeClr val="bg1"/>
                </a:solidFill>
              </a:rPr>
              <a:t>Policy-enforced tool access.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Observability Model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Trace: one record per user interaction.</a:t>
            </a:r>
          </a:p>
          <a:p>
            <a:r>
              <a:rPr lang="en-US">
                <a:solidFill>
                  <a:schemeClr val="bg1"/>
                </a:solidFill>
              </a:rPr>
              <a:t>AuditLog: one record per tool invocation.</a:t>
            </a:r>
          </a:p>
          <a:p>
            <a:r>
              <a:rPr lang="en-US">
                <a:solidFill>
                  <a:schemeClr val="bg1"/>
                </a:solidFill>
              </a:rPr>
              <a:t>Complete input/output capture.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Evaluation Framework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Automated eval suite covering core user flows.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Balance checks, product search, and purchase confirmation.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LLM and heuristic planners evaluated separately.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Experimental Results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100% pass rate across critical evaluation cases.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Consistent latency across planner modes.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No unsafe executions observed.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Frontend Demonstration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SaaS-style landing page.</a:t>
            </a:r>
          </a:p>
          <a:p>
            <a:r>
              <a:rPr lang="en-US">
                <a:solidFill>
                  <a:schemeClr val="bg1"/>
                </a:solidFill>
              </a:rPr>
              <a:t>Agent chat interface with session memory.</a:t>
            </a:r>
          </a:p>
          <a:p>
            <a:r>
              <a:rPr lang="en-US">
                <a:solidFill>
                  <a:schemeClr val="bg1"/>
                </a:solidFill>
              </a:rPr>
              <a:t>Observability dashboard for traces and audits.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Discussion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Agent systems must be engineered, not prompted.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Observability improves trust and debuggability.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Clear separation of concerns improves safety.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923293"/>
            <a:ext cx="3022599" cy="4641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Single-agent scope.</a:t>
            </a:r>
          </a:p>
          <a:p>
            <a:r>
              <a:rPr lang="en-US">
                <a:solidFill>
                  <a:schemeClr val="bg1"/>
                </a:solidFill>
              </a:rPr>
              <a:t>Synthetic data only.</a:t>
            </a:r>
          </a:p>
          <a:p>
            <a:r>
              <a:rPr lang="en-US">
                <a:solidFill>
                  <a:schemeClr val="bg1"/>
                </a:solidFill>
              </a:rPr>
              <a:t>Authentication and authorization omitted.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41014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Future Work</a:t>
            </a:r>
          </a:p>
        </p:txBody>
      </p:sp>
      <p:grpSp>
        <p:nvGrpSpPr>
          <p:cNvPr id="36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37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4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2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4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15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Multi-agent coordination.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Role-based access control.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Asynchronous workflows.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Production deployment and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4EB171-C6E9-B3CA-18B4-8562549EF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63701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369</Words>
  <Application>Microsoft Macintosh PowerPoint</Application>
  <PresentationFormat>On-screen Show (4:3)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SentinelFlow</vt:lpstr>
      <vt:lpstr>Abstract</vt:lpstr>
      <vt:lpstr>Motivation</vt:lpstr>
      <vt:lpstr>Research Objectives</vt:lpstr>
      <vt:lpstr>System Overview</vt:lpstr>
      <vt:lpstr>PowerPoint Presentation</vt:lpstr>
      <vt:lpstr>Planner Design</vt:lpstr>
      <vt:lpstr>Orchestrator Responsibilities</vt:lpstr>
      <vt:lpstr>Safety Mechanisms</vt:lpstr>
      <vt:lpstr>Observability Model</vt:lpstr>
      <vt:lpstr>Evaluation Framework</vt:lpstr>
      <vt:lpstr>Experimental Results</vt:lpstr>
      <vt:lpstr>Frontend Demonstration</vt:lpstr>
      <vt:lpstr>Discussion</vt:lpstr>
      <vt:lpstr>Limitations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Ian Madhara [student]</cp:lastModifiedBy>
  <cp:revision>2</cp:revision>
  <dcterms:created xsi:type="dcterms:W3CDTF">2013-01-27T09:14:16Z</dcterms:created>
  <dcterms:modified xsi:type="dcterms:W3CDTF">2025-12-23T19:08:13Z</dcterms:modified>
  <cp:category/>
</cp:coreProperties>
</file>